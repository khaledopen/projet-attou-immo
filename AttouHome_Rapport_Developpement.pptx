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2011680"/>
            <a:ext cx="137160" cy="292608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1828800"/>
          </a:xfrm>
          <a:prstGeom prst="rect">
            <a:avLst/>
          </a:prstGeom>
          <a:noFill/>
        </p:spPr>
        <p:txBody>
          <a:bodyPr wrap="square">
            <a:spAutoFit/>
          </a:bodyPr>
          <a:lstStyle/>
          <a:p>
            <a:pPr>
              <a:defRPr sz="6400" b="1">
                <a:solidFill>
                  <a:srgbClr val="FFFFFF"/>
                </a:solidFill>
                <a:latin typeface="Calibri"/>
              </a:defRPr>
            </a:pPr>
            <a:r>
              <a:t>AttouHome</a:t>
            </a:r>
          </a:p>
          <a:p>
            <a:pPr>
              <a:spcBef>
                <a:spcPts val="1500"/>
              </a:spcBef>
              <a:defRPr sz="2800" b="1">
                <a:solidFill>
                  <a:srgbClr val="0284C7"/>
                </a:solidFill>
                <a:latin typeface="Calibri"/>
              </a:defRPr>
            </a:pPr>
            <a:r>
              <a:t>Révolutionner la Recherche &amp; Gestion Immobilière</a:t>
            </a:r>
          </a:p>
        </p:txBody>
      </p:sp>
      <p:sp>
        <p:nvSpPr>
          <p:cNvPr id="4" name="TextBox 3"/>
          <p:cNvSpPr txBox="1"/>
          <p:nvPr/>
        </p:nvSpPr>
        <p:spPr>
          <a:xfrm>
            <a:off x="1097280" y="4754880"/>
            <a:ext cx="10058400" cy="1371600"/>
          </a:xfrm>
          <a:prstGeom prst="rect">
            <a:avLst/>
          </a:prstGeom>
          <a:noFill/>
        </p:spPr>
        <p:txBody>
          <a:bodyPr wrap="none">
            <a:spAutoFit/>
          </a:bodyPr>
          <a:lstStyle/>
          <a:p>
            <a:pPr>
              <a:defRPr sz="1400" b="1">
                <a:solidFill>
                  <a:srgbClr val="64748B"/>
                </a:solidFill>
                <a:latin typeface="Calibri"/>
              </a:defRPr>
            </a:pPr>
            <a:r>
              <a:t>Rapport Technique de Synthèse des Développements</a:t>
            </a:r>
          </a:p>
          <a:p>
            <a:pPr>
              <a:spcBef>
                <a:spcPts val="500"/>
              </a:spcBef>
              <a:defRPr sz="1200">
                <a:solidFill>
                  <a:srgbClr val="64748B"/>
                </a:solidFill>
                <a:latin typeface="Calibri"/>
              </a:defRPr>
            </a:pPr>
            <a:r>
              <a:t>Applications Mobiles (Tenant &amp; Owner), Console d'Administration Web, Résilience Réseau &amp; Synchronisations temps réel.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lgn="l">
              <a:defRPr sz="1000" b="1">
                <a:solidFill>
                  <a:srgbClr val="0284C7"/>
                </a:solidFill>
                <a:latin typeface="Calibri"/>
              </a:defRPr>
            </a:pPr>
            <a:r>
              <a:t>ATTOUHOME - RAPPORT DE DÉVELOPPEMENT</a:t>
            </a:r>
          </a:p>
        </p:txBody>
      </p:sp>
      <p:sp>
        <p:nvSpPr>
          <p:cNvPr id="3" name="TextBox 2"/>
          <p:cNvSpPr txBox="1"/>
          <p:nvPr/>
        </p:nvSpPr>
        <p:spPr>
          <a:xfrm>
            <a:off x="731520" y="640080"/>
            <a:ext cx="10698480" cy="548640"/>
          </a:xfrm>
          <a:prstGeom prst="rect">
            <a:avLst/>
          </a:prstGeom>
          <a:noFill/>
        </p:spPr>
        <p:txBody>
          <a:bodyPr wrap="square">
            <a:spAutoFit/>
          </a:bodyPr>
          <a:lstStyle/>
          <a:p>
            <a:pPr algn="l">
              <a:defRPr sz="2400" b="1">
                <a:solidFill>
                  <a:srgbClr val="0F172A"/>
                </a:solidFill>
                <a:latin typeface="Calibri"/>
              </a:defRPr>
            </a:pPr>
            <a:r>
              <a:t>Une Architecture Multi-Plateforme Complète</a:t>
            </a:r>
          </a:p>
        </p:txBody>
      </p:sp>
      <p:sp>
        <p:nvSpPr>
          <p:cNvPr id="4" name="Rounded Rectangle 3"/>
          <p:cNvSpPr/>
          <p:nvPr/>
        </p:nvSpPr>
        <p:spPr>
          <a:xfrm>
            <a:off x="7315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2743200" cy="365760"/>
          </a:xfrm>
          <a:prstGeom prst="rect">
            <a:avLst/>
          </a:prstGeom>
          <a:noFill/>
        </p:spPr>
        <p:txBody>
          <a:bodyPr wrap="square">
            <a:spAutoFit/>
          </a:bodyPr>
          <a:lstStyle/>
          <a:p>
            <a:pPr algn="l">
              <a:defRPr sz="1300" b="1">
                <a:solidFill>
                  <a:srgbClr val="0284C7"/>
                </a:solidFill>
                <a:latin typeface="Calibri"/>
              </a:defRPr>
            </a:pPr>
            <a:r>
              <a:t>⚡ CORE ENGINE &amp; BASE</a:t>
            </a:r>
          </a:p>
        </p:txBody>
      </p:sp>
      <p:sp>
        <p:nvSpPr>
          <p:cNvPr id="6" name="TextBox 5"/>
          <p:cNvSpPr txBox="1"/>
          <p:nvPr/>
        </p:nvSpPr>
        <p:spPr>
          <a:xfrm>
            <a:off x="1005840" y="2103120"/>
            <a:ext cx="2743200" cy="548640"/>
          </a:xfrm>
          <a:prstGeom prst="rect">
            <a:avLst/>
          </a:prstGeom>
          <a:noFill/>
        </p:spPr>
        <p:txBody>
          <a:bodyPr wrap="square">
            <a:spAutoFit/>
          </a:bodyPr>
          <a:lstStyle/>
          <a:p>
            <a:pPr algn="l">
              <a:defRPr sz="1800" b="1">
                <a:solidFill>
                  <a:srgbClr val="0F172A"/>
                </a:solidFill>
                <a:latin typeface="Calibri"/>
              </a:defRPr>
            </a:pPr>
            <a:r>
              <a:t>Backend Node.js, Express &amp; Prisma</a:t>
            </a:r>
          </a:p>
        </p:txBody>
      </p:sp>
      <p:sp>
        <p:nvSpPr>
          <p:cNvPr id="7" name="TextBox 6"/>
          <p:cNvSpPr txBox="1"/>
          <p:nvPr/>
        </p:nvSpPr>
        <p:spPr>
          <a:xfrm>
            <a:off x="1005840" y="2743200"/>
            <a:ext cx="2743200" cy="2743200"/>
          </a:xfrm>
          <a:prstGeom prst="rect">
            <a:avLst/>
          </a:prstGeom>
          <a:noFill/>
        </p:spPr>
        <p:txBody>
          <a:bodyPr wrap="square">
            <a:spAutoFit/>
          </a:bodyPr>
          <a:lstStyle/>
          <a:p>
            <a:pPr>
              <a:defRPr sz="1300">
                <a:solidFill>
                  <a:srgbClr val="64748B"/>
                </a:solidFill>
              </a:defRPr>
            </a:pPr>
            <a:r>
              <a:t>• Architecture API REST sécurisée</a:t>
            </a:r>
          </a:p>
          <a:p>
            <a:pPr>
              <a:spcBef>
                <a:spcPts val="1000"/>
              </a:spcBef>
              <a:defRPr sz="1300" b="0">
                <a:solidFill>
                  <a:srgbClr val="64748B"/>
                </a:solidFill>
                <a:latin typeface="Calibri"/>
              </a:defRPr>
            </a:pPr>
            <a:r>
              <a:t>• Schémas de base de données PostgreSQL robustes managés via Prisma</a:t>
            </a:r>
          </a:p>
          <a:p>
            <a:pPr>
              <a:spcBef>
                <a:spcPts val="1000"/>
              </a:spcBef>
              <a:defRPr sz="1300" b="0">
                <a:solidFill>
                  <a:srgbClr val="64748B"/>
                </a:solidFill>
                <a:latin typeface="Calibri"/>
              </a:defRPr>
            </a:pPr>
            <a:r>
              <a:t>• Intégration en temps réel des services de modération d'annonces</a:t>
            </a:r>
          </a:p>
          <a:p>
            <a:pPr>
              <a:spcBef>
                <a:spcPts val="1000"/>
              </a:spcBef>
              <a:defRPr sz="1300" b="0">
                <a:solidFill>
                  <a:srgbClr val="64748B"/>
                </a:solidFill>
                <a:latin typeface="Calibri"/>
              </a:defRPr>
            </a:pPr>
            <a:r>
              <a:t>• Notifications Push &amp; tunnels WebSocket actifs pour la messagerie instantanée</a:t>
            </a:r>
          </a:p>
        </p:txBody>
      </p:sp>
      <p:sp>
        <p:nvSpPr>
          <p:cNvPr id="8" name="Rounded Rectangle 7"/>
          <p:cNvSpPr/>
          <p:nvPr/>
        </p:nvSpPr>
        <p:spPr>
          <a:xfrm>
            <a:off x="43891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737360"/>
            <a:ext cx="2743200" cy="365760"/>
          </a:xfrm>
          <a:prstGeom prst="rect">
            <a:avLst/>
          </a:prstGeom>
          <a:noFill/>
        </p:spPr>
        <p:txBody>
          <a:bodyPr wrap="square">
            <a:spAutoFit/>
          </a:bodyPr>
          <a:lstStyle/>
          <a:p>
            <a:pPr algn="l">
              <a:defRPr sz="1300" b="1">
                <a:solidFill>
                  <a:srgbClr val="F97316"/>
                </a:solidFill>
                <a:latin typeface="Calibri"/>
              </a:defRPr>
            </a:pPr>
            <a:r>
              <a:t>📱 COMPAGNON MOBILE</a:t>
            </a:r>
          </a:p>
        </p:txBody>
      </p:sp>
      <p:sp>
        <p:nvSpPr>
          <p:cNvPr id="10" name="TextBox 9"/>
          <p:cNvSpPr txBox="1"/>
          <p:nvPr/>
        </p:nvSpPr>
        <p:spPr>
          <a:xfrm>
            <a:off x="4663440" y="2103120"/>
            <a:ext cx="2743200" cy="548640"/>
          </a:xfrm>
          <a:prstGeom prst="rect">
            <a:avLst/>
          </a:prstGeom>
          <a:noFill/>
        </p:spPr>
        <p:txBody>
          <a:bodyPr wrap="square">
            <a:spAutoFit/>
          </a:bodyPr>
          <a:lstStyle/>
          <a:p>
            <a:pPr algn="l">
              <a:defRPr sz="1800" b="1">
                <a:solidFill>
                  <a:srgbClr val="0F172A"/>
                </a:solidFill>
                <a:latin typeface="Calibri"/>
              </a:defRPr>
            </a:pPr>
            <a:r>
              <a:t>Applications iOS &amp; Android</a:t>
            </a:r>
          </a:p>
        </p:txBody>
      </p:sp>
      <p:sp>
        <p:nvSpPr>
          <p:cNvPr id="11" name="TextBox 10"/>
          <p:cNvSpPr txBox="1"/>
          <p:nvPr/>
        </p:nvSpPr>
        <p:spPr>
          <a:xfrm>
            <a:off x="4663440" y="2743200"/>
            <a:ext cx="2743200" cy="2743200"/>
          </a:xfrm>
          <a:prstGeom prst="rect">
            <a:avLst/>
          </a:prstGeom>
          <a:noFill/>
        </p:spPr>
        <p:txBody>
          <a:bodyPr wrap="square">
            <a:spAutoFit/>
          </a:bodyPr>
          <a:lstStyle/>
          <a:p>
            <a:pPr>
              <a:defRPr sz="1300">
                <a:solidFill>
                  <a:srgbClr val="64748B"/>
                </a:solidFill>
              </a:defRPr>
            </a:pPr>
            <a:r>
              <a:t>• Apps compilées via Expo &amp; React Native</a:t>
            </a:r>
          </a:p>
          <a:p>
            <a:pPr>
              <a:spcBef>
                <a:spcPts val="1000"/>
              </a:spcBef>
              <a:defRPr sz="1300" b="0">
                <a:solidFill>
                  <a:srgbClr val="64748B"/>
                </a:solidFill>
                <a:latin typeface="Calibri"/>
              </a:defRPr>
            </a:pPr>
            <a:r>
              <a:t>• Tenant App : Recherche premium, favoris locaux offline &amp; prise de visites</a:t>
            </a:r>
          </a:p>
          <a:p>
            <a:pPr>
              <a:spcBef>
                <a:spcPts val="1000"/>
              </a:spcBef>
              <a:defRPr sz="1300" b="0">
                <a:solidFill>
                  <a:srgbClr val="64748B"/>
                </a:solidFill>
                <a:latin typeface="Calibri"/>
              </a:defRPr>
            </a:pPr>
            <a:r>
              <a:t>• Owner App : Dépôt d'annonces rapide avec sélection et upload d'images</a:t>
            </a:r>
          </a:p>
          <a:p>
            <a:pPr>
              <a:spcBef>
                <a:spcPts val="1000"/>
              </a:spcBef>
              <a:defRPr sz="1300" b="0">
                <a:solidFill>
                  <a:srgbClr val="64748B"/>
                </a:solidFill>
                <a:latin typeface="Calibri"/>
              </a:defRPr>
            </a:pPr>
            <a:r>
              <a:t>• Géolocalisation dynamique inverse pour le repérage auto des coordonnées</a:t>
            </a:r>
          </a:p>
        </p:txBody>
      </p:sp>
      <p:sp>
        <p:nvSpPr>
          <p:cNvPr id="12" name="Rounded Rectangle 11"/>
          <p:cNvSpPr/>
          <p:nvPr/>
        </p:nvSpPr>
        <p:spPr>
          <a:xfrm>
            <a:off x="80467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737360"/>
            <a:ext cx="2743200" cy="365760"/>
          </a:xfrm>
          <a:prstGeom prst="rect">
            <a:avLst/>
          </a:prstGeom>
          <a:noFill/>
        </p:spPr>
        <p:txBody>
          <a:bodyPr wrap="square">
            <a:spAutoFit/>
          </a:bodyPr>
          <a:lstStyle/>
          <a:p>
            <a:pPr algn="l">
              <a:defRPr sz="1300" b="1">
                <a:solidFill>
                  <a:srgbClr val="0284C7"/>
                </a:solidFill>
                <a:latin typeface="Calibri"/>
              </a:defRPr>
            </a:pPr>
            <a:r>
              <a:t>🖥️ PILOTAGE CENTRAL</a:t>
            </a:r>
          </a:p>
        </p:txBody>
      </p:sp>
      <p:sp>
        <p:nvSpPr>
          <p:cNvPr id="14" name="TextBox 13"/>
          <p:cNvSpPr txBox="1"/>
          <p:nvPr/>
        </p:nvSpPr>
        <p:spPr>
          <a:xfrm>
            <a:off x="8321040" y="2103120"/>
            <a:ext cx="2743200" cy="548640"/>
          </a:xfrm>
          <a:prstGeom prst="rect">
            <a:avLst/>
          </a:prstGeom>
          <a:noFill/>
        </p:spPr>
        <p:txBody>
          <a:bodyPr wrap="square">
            <a:spAutoFit/>
          </a:bodyPr>
          <a:lstStyle/>
          <a:p>
            <a:pPr algn="l">
              <a:defRPr sz="1800" b="1">
                <a:solidFill>
                  <a:srgbClr val="0F172A"/>
                </a:solidFill>
                <a:latin typeface="Calibri"/>
              </a:defRPr>
            </a:pPr>
            <a:r>
              <a:t>IvoireAdmin Dashboard</a:t>
            </a:r>
          </a:p>
        </p:txBody>
      </p:sp>
      <p:sp>
        <p:nvSpPr>
          <p:cNvPr id="15" name="TextBox 14"/>
          <p:cNvSpPr txBox="1"/>
          <p:nvPr/>
        </p:nvSpPr>
        <p:spPr>
          <a:xfrm>
            <a:off x="8321040" y="2743200"/>
            <a:ext cx="2743200" cy="2743200"/>
          </a:xfrm>
          <a:prstGeom prst="rect">
            <a:avLst/>
          </a:prstGeom>
          <a:noFill/>
        </p:spPr>
        <p:txBody>
          <a:bodyPr wrap="square">
            <a:spAutoFit/>
          </a:bodyPr>
          <a:lstStyle/>
          <a:p>
            <a:pPr>
              <a:defRPr sz="1300">
                <a:solidFill>
                  <a:srgbClr val="64748B"/>
                </a:solidFill>
              </a:defRPr>
            </a:pPr>
            <a:r>
              <a:t>• Panel Web d'administration moderne en React</a:t>
            </a:r>
          </a:p>
          <a:p>
            <a:pPr>
              <a:spcBef>
                <a:spcPts val="1000"/>
              </a:spcBef>
              <a:defRPr sz="1300" b="0">
                <a:solidFill>
                  <a:srgbClr val="64748B"/>
                </a:solidFill>
                <a:latin typeface="Calibri"/>
              </a:defRPr>
            </a:pPr>
            <a:r>
              <a:t>• Palette Navy/Orange corporate unifiée</a:t>
            </a:r>
          </a:p>
          <a:p>
            <a:pPr>
              <a:spcBef>
                <a:spcPts val="1000"/>
              </a:spcBef>
              <a:defRPr sz="1300" b="0">
                <a:solidFill>
                  <a:srgbClr val="64748B"/>
                </a:solidFill>
                <a:latin typeface="Calibri"/>
              </a:defRPr>
            </a:pPr>
            <a:r>
              <a:t>• Gestion des utilisateurs, modération des biens signalés &amp; blocages instantanés</a:t>
            </a:r>
          </a:p>
          <a:p>
            <a:pPr>
              <a:spcBef>
                <a:spcPts val="1000"/>
              </a:spcBef>
              <a:defRPr sz="1300" b="0">
                <a:solidFill>
                  <a:srgbClr val="64748B"/>
                </a:solidFill>
                <a:latin typeface="Calibri"/>
              </a:defRPr>
            </a:pPr>
            <a:r>
              <a:t>• Statistiques dynamiques sur l'activité des visites et taux d'engagement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lgn="l">
              <a:defRPr sz="1000" b="1">
                <a:solidFill>
                  <a:srgbClr val="0284C7"/>
                </a:solidFill>
                <a:latin typeface="Calibri"/>
              </a:defRPr>
            </a:pPr>
            <a:r>
              <a:t>ATTOUHOME - RAPPORT DE DÉVELOPPEMENT</a:t>
            </a:r>
          </a:p>
        </p:txBody>
      </p:sp>
      <p:sp>
        <p:nvSpPr>
          <p:cNvPr id="3" name="TextBox 2"/>
          <p:cNvSpPr txBox="1"/>
          <p:nvPr/>
        </p:nvSpPr>
        <p:spPr>
          <a:xfrm>
            <a:off x="731520" y="640080"/>
            <a:ext cx="10698480" cy="548640"/>
          </a:xfrm>
          <a:prstGeom prst="rect">
            <a:avLst/>
          </a:prstGeom>
          <a:noFill/>
        </p:spPr>
        <p:txBody>
          <a:bodyPr wrap="square">
            <a:spAutoFit/>
          </a:bodyPr>
          <a:lstStyle/>
          <a:p>
            <a:pPr algn="l">
              <a:defRPr sz="2400" b="1">
                <a:solidFill>
                  <a:srgbClr val="0F172A"/>
                </a:solidFill>
                <a:latin typeface="Calibri"/>
              </a:defRPr>
            </a:pPr>
            <a:r>
              <a:t>Zéro Coupure : Résilience Réseau &amp; Tunneling Automatique</a:t>
            </a:r>
          </a:p>
        </p:txBody>
      </p:sp>
      <p:sp>
        <p:nvSpPr>
          <p:cNvPr id="4" name="Rounded Rectangle 3"/>
          <p:cNvSpPr/>
          <p:nvPr/>
        </p:nvSpPr>
        <p:spPr>
          <a:xfrm>
            <a:off x="7315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572000" cy="365760"/>
          </a:xfrm>
          <a:prstGeom prst="rect">
            <a:avLst/>
          </a:prstGeom>
          <a:noFill/>
        </p:spPr>
        <p:txBody>
          <a:bodyPr wrap="square">
            <a:spAutoFit/>
          </a:bodyPr>
          <a:lstStyle/>
          <a:p>
            <a:pPr algn="l">
              <a:defRPr sz="1200" b="1">
                <a:solidFill>
                  <a:srgbClr val="0284C7"/>
                </a:solidFill>
                <a:latin typeface="Calibri"/>
              </a:defRPr>
            </a:pPr>
            <a:r>
              <a:t>🔗 AUTOMATION DES ADRESSES IP</a:t>
            </a:r>
          </a:p>
        </p:txBody>
      </p:sp>
      <p:sp>
        <p:nvSpPr>
          <p:cNvPr id="6" name="TextBox 5"/>
          <p:cNvSpPr txBox="1"/>
          <p:nvPr/>
        </p:nvSpPr>
        <p:spPr>
          <a:xfrm>
            <a:off x="1005840" y="2103120"/>
            <a:ext cx="4572000" cy="457200"/>
          </a:xfrm>
          <a:prstGeom prst="rect">
            <a:avLst/>
          </a:prstGeom>
          <a:noFill/>
        </p:spPr>
        <p:txBody>
          <a:bodyPr wrap="square">
            <a:spAutoFit/>
          </a:bodyPr>
          <a:lstStyle/>
          <a:p>
            <a:pPr algn="l">
              <a:defRPr sz="1800" b="1">
                <a:solidFill>
                  <a:srgbClr val="0F172A"/>
                </a:solidFill>
                <a:latin typeface="Calibri"/>
              </a:defRPr>
            </a:pPr>
            <a:r>
              <a:t>Mise à jour en temps réel des URLs</a:t>
            </a:r>
          </a:p>
        </p:txBody>
      </p:sp>
      <p:sp>
        <p:nvSpPr>
          <p:cNvPr id="7" name="TextBox 6"/>
          <p:cNvSpPr txBox="1"/>
          <p:nvPr/>
        </p:nvSpPr>
        <p:spPr>
          <a:xfrm>
            <a:off x="1005840" y="2651760"/>
            <a:ext cx="4572000" cy="2926080"/>
          </a:xfrm>
          <a:prstGeom prst="rect">
            <a:avLst/>
          </a:prstGeom>
          <a:noFill/>
        </p:spPr>
        <p:txBody>
          <a:bodyPr wrap="square">
            <a:spAutoFit/>
          </a:bodyPr>
          <a:lstStyle/>
          <a:p>
            <a:pPr>
              <a:defRPr sz="1300">
                <a:solidFill>
                  <a:srgbClr val="64748B"/>
                </a:solidFill>
              </a:defRPr>
            </a:pPr>
            <a:r>
              <a:t>Les tunnels Localtunnel/Serveo changent d'URL à chaque démarrage du serveur. Pour éviter les pannes ou les configurations manuelles laborieuses :</a:t>
            </a:r>
          </a:p>
          <a:p>
            <a:pPr>
              <a:spcBef>
                <a:spcPts val="1000"/>
              </a:spcBef>
              <a:defRPr sz="1300" b="0">
                <a:solidFill>
                  <a:srgbClr val="64748B"/>
                </a:solidFill>
                <a:latin typeface="Calibri"/>
              </a:defRPr>
            </a:pPr>
            <a:r>
              <a:t>✔ Capture automatique : Un script capture l'URL à la volée au démarrage.</a:t>
            </a:r>
          </a:p>
          <a:p>
            <a:pPr>
              <a:spcBef>
                <a:spcPts val="1000"/>
              </a:spcBef>
              <a:defRPr sz="1300" b="0">
                <a:solidFill>
                  <a:srgbClr val="64748B"/>
                </a:solidFill>
                <a:latin typeface="Calibri"/>
              </a:defRPr>
            </a:pPr>
            <a:r>
              <a:t>✔ Synchronisation globale : Injection automatique de l'URL dans les fichiers .env de l'application Owner et Tenant simultanément.</a:t>
            </a:r>
          </a:p>
          <a:p>
            <a:pPr>
              <a:spcBef>
                <a:spcPts val="1000"/>
              </a:spcBef>
              <a:defRPr sz="1300" b="0">
                <a:solidFill>
                  <a:srgbClr val="64748B"/>
                </a:solidFill>
                <a:latin typeface="Calibri"/>
              </a:defRPr>
            </a:pPr>
            <a:r>
              <a:t>✔ Zéro Friction : Les téléphones de test (iOS/Android) se connectent instantanément sans aucune configuration.</a:t>
            </a:r>
          </a:p>
        </p:txBody>
      </p:sp>
      <p:sp>
        <p:nvSpPr>
          <p:cNvPr id="8" name="Rounded Rectangle 7"/>
          <p:cNvSpPr/>
          <p:nvPr/>
        </p:nvSpPr>
        <p:spPr>
          <a:xfrm>
            <a:off x="62179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37360"/>
            <a:ext cx="4572000" cy="365760"/>
          </a:xfrm>
          <a:prstGeom prst="rect">
            <a:avLst/>
          </a:prstGeom>
          <a:noFill/>
        </p:spPr>
        <p:txBody>
          <a:bodyPr wrap="square">
            <a:spAutoFit/>
          </a:bodyPr>
          <a:lstStyle/>
          <a:p>
            <a:pPr algn="l">
              <a:defRPr sz="1200" b="1">
                <a:solidFill>
                  <a:srgbClr val="F97316"/>
                </a:solidFill>
                <a:latin typeface="Calibri"/>
              </a:defRPr>
            </a:pPr>
            <a:r>
              <a:t>🛡️ RESILIENCE AUX TENTATIVES RÉSEAU</a:t>
            </a:r>
          </a:p>
        </p:txBody>
      </p:sp>
      <p:sp>
        <p:nvSpPr>
          <p:cNvPr id="10" name="TextBox 9"/>
          <p:cNvSpPr txBox="1"/>
          <p:nvPr/>
        </p:nvSpPr>
        <p:spPr>
          <a:xfrm>
            <a:off x="6492240" y="2103120"/>
            <a:ext cx="4572000" cy="457200"/>
          </a:xfrm>
          <a:prstGeom prst="rect">
            <a:avLst/>
          </a:prstGeom>
          <a:noFill/>
        </p:spPr>
        <p:txBody>
          <a:bodyPr wrap="square">
            <a:spAutoFit/>
          </a:bodyPr>
          <a:lstStyle/>
          <a:p>
            <a:pPr algn="l">
              <a:defRPr sz="1800" b="1">
                <a:solidFill>
                  <a:srgbClr val="0F172A"/>
                </a:solidFill>
                <a:latin typeface="Calibri"/>
              </a:defRPr>
            </a:pPr>
            <a:r>
              <a:t>Intercepteurs Globaux Axios &amp; Retries</a:t>
            </a:r>
          </a:p>
        </p:txBody>
      </p:sp>
      <p:sp>
        <p:nvSpPr>
          <p:cNvPr id="11" name="TextBox 10"/>
          <p:cNvSpPr txBox="1"/>
          <p:nvPr/>
        </p:nvSpPr>
        <p:spPr>
          <a:xfrm>
            <a:off x="6492240" y="2651760"/>
            <a:ext cx="4572000" cy="2926080"/>
          </a:xfrm>
          <a:prstGeom prst="rect">
            <a:avLst/>
          </a:prstGeom>
          <a:noFill/>
        </p:spPr>
        <p:txBody>
          <a:bodyPr wrap="square">
            <a:spAutoFit/>
          </a:bodyPr>
          <a:lstStyle/>
          <a:p>
            <a:pPr>
              <a:defRPr sz="1300">
                <a:solidFill>
                  <a:srgbClr val="64748B"/>
                </a:solidFill>
              </a:defRPr>
            </a:pPr>
            <a:r>
              <a:t>Les tunnels réseau de développement subissent souvent des pertes de paquets ou des lenteurs temporaires (erreurs 502/504) :</a:t>
            </a:r>
          </a:p>
          <a:p>
            <a:pPr>
              <a:spcBef>
                <a:spcPts val="1000"/>
              </a:spcBef>
              <a:defRPr sz="1300" b="0">
                <a:solidFill>
                  <a:srgbClr val="64748B"/>
                </a:solidFill>
                <a:latin typeface="Calibri"/>
              </a:defRPr>
            </a:pPr>
            <a:r>
              <a:t>✔ AxiosInstance standardisé : Les appels directs à 'axios' ont été remplacés par une instance réseau blindée commune aux applications.</a:t>
            </a:r>
          </a:p>
          <a:p>
            <a:pPr>
              <a:spcBef>
                <a:spcPts val="1000"/>
              </a:spcBef>
              <a:defRPr sz="1300" b="0">
                <a:solidFill>
                  <a:srgbClr val="64748B"/>
                </a:solidFill>
                <a:latin typeface="Calibri"/>
              </a:defRPr>
            </a:pPr>
            <a:r>
              <a:t>✔ Gestionnaire de réessais (Retries) : Tentatives de reconnexion auto (jusqu'à 3 essais) avec un délai exponentiel avant de remonter une erreur.</a:t>
            </a:r>
          </a:p>
          <a:p>
            <a:pPr>
              <a:spcBef>
                <a:spcPts val="1000"/>
              </a:spcBef>
              <a:defRPr sz="1300" b="0">
                <a:solidFill>
                  <a:srgbClr val="64748B"/>
                </a:solidFill>
                <a:latin typeface="Calibri"/>
              </a:defRPr>
            </a:pPr>
            <a:r>
              <a:t>✔ Upload d'images blindé : Publication stable des annonces même avec des fichiers volumineux.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lgn="l">
              <a:defRPr sz="1000" b="1">
                <a:solidFill>
                  <a:srgbClr val="0284C7"/>
                </a:solidFill>
                <a:latin typeface="Calibri"/>
              </a:defRPr>
            </a:pPr>
            <a:r>
              <a:t>ATTOUHOME - RAPPORT DE DÉVELOPPEMENT</a:t>
            </a:r>
          </a:p>
        </p:txBody>
      </p:sp>
      <p:sp>
        <p:nvSpPr>
          <p:cNvPr id="3" name="TextBox 2"/>
          <p:cNvSpPr txBox="1"/>
          <p:nvPr/>
        </p:nvSpPr>
        <p:spPr>
          <a:xfrm>
            <a:off x="731520" y="640080"/>
            <a:ext cx="10698480" cy="548640"/>
          </a:xfrm>
          <a:prstGeom prst="rect">
            <a:avLst/>
          </a:prstGeom>
          <a:noFill/>
        </p:spPr>
        <p:txBody>
          <a:bodyPr wrap="square">
            <a:spAutoFit/>
          </a:bodyPr>
          <a:lstStyle/>
          <a:p>
            <a:pPr algn="l">
              <a:defRPr sz="2400" b="1">
                <a:solidFill>
                  <a:srgbClr val="0F172A"/>
                </a:solidFill>
                <a:latin typeface="Calibri"/>
              </a:defRPr>
            </a:pPr>
            <a:r>
              <a:t>L'Interface Explorer : Une Révolution Visuelle Moderne</a:t>
            </a:r>
          </a:p>
        </p:txBody>
      </p:sp>
      <p:sp>
        <p:nvSpPr>
          <p:cNvPr id="4" name="Rounded Rectangle 3"/>
          <p:cNvSpPr/>
          <p:nvPr/>
        </p:nvSpPr>
        <p:spPr>
          <a:xfrm>
            <a:off x="7315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365760"/>
          </a:xfrm>
          <a:prstGeom prst="rect">
            <a:avLst/>
          </a:prstGeom>
          <a:noFill/>
        </p:spPr>
        <p:txBody>
          <a:bodyPr wrap="square">
            <a:spAutoFit/>
          </a:bodyPr>
          <a:lstStyle/>
          <a:p>
            <a:pPr algn="l">
              <a:defRPr sz="1200" b="1">
                <a:solidFill>
                  <a:srgbClr val="0284C7"/>
                </a:solidFill>
                <a:latin typeface="Calibri"/>
              </a:defRPr>
            </a:pPr>
            <a:r>
              <a:t>🎨 EXPERIENCE PREMIUM WOW</a:t>
            </a:r>
          </a:p>
        </p:txBody>
      </p:sp>
      <p:sp>
        <p:nvSpPr>
          <p:cNvPr id="6" name="TextBox 5"/>
          <p:cNvSpPr txBox="1"/>
          <p:nvPr/>
        </p:nvSpPr>
        <p:spPr>
          <a:xfrm>
            <a:off x="1005840" y="2011680"/>
            <a:ext cx="4572000" cy="457200"/>
          </a:xfrm>
          <a:prstGeom prst="rect">
            <a:avLst/>
          </a:prstGeom>
          <a:noFill/>
        </p:spPr>
        <p:txBody>
          <a:bodyPr wrap="square">
            <a:spAutoFit/>
          </a:bodyPr>
          <a:lstStyle/>
          <a:p>
            <a:pPr algn="l">
              <a:defRPr sz="1800" b="1">
                <a:solidFill>
                  <a:srgbClr val="0F172A"/>
                </a:solidFill>
                <a:latin typeface="Calibri"/>
              </a:defRPr>
            </a:pPr>
            <a:r>
              <a:t>Fonctionnalités Clés Implémentées</a:t>
            </a:r>
          </a:p>
        </p:txBody>
      </p:sp>
      <p:sp>
        <p:nvSpPr>
          <p:cNvPr id="7" name="TextBox 6"/>
          <p:cNvSpPr txBox="1"/>
          <p:nvPr/>
        </p:nvSpPr>
        <p:spPr>
          <a:xfrm>
            <a:off x="1005840" y="2560320"/>
            <a:ext cx="4572000" cy="2926080"/>
          </a:xfrm>
          <a:prstGeom prst="rect">
            <a:avLst/>
          </a:prstGeom>
          <a:noFill/>
        </p:spPr>
        <p:txBody>
          <a:bodyPr wrap="square">
            <a:spAutoFit/>
          </a:bodyPr>
          <a:lstStyle/>
          <a:p>
            <a:pPr>
              <a:defRPr sz="1200">
                <a:solidFill>
                  <a:srgbClr val="64748B"/>
                </a:solidFill>
              </a:defRPr>
            </a:pPr>
            <a:r>
              <a:t>• En-tête Premium personnalisé : Salutations 'Bonjour 👋' et titre clair unifié à côté d'une cloche de notifications aux proportions parfaites.</a:t>
            </a:r>
          </a:p>
          <a:p>
            <a:pPr>
              <a:spcBef>
                <a:spcPts val="1000"/>
              </a:spcBef>
              <a:defRPr sz="1200" b="0">
                <a:solidFill>
                  <a:srgbClr val="64748B"/>
                </a:solidFill>
                <a:latin typeface="Calibri"/>
              </a:defRPr>
            </a:pPr>
            <a:r>
              <a:t>• Recherche &amp; Filtres intégrés : Barre de recherche épurée couplée à un bouton de filtre de taille 44x44 élégant aux couleurs de la marque.</a:t>
            </a:r>
          </a:p>
          <a:p>
            <a:pPr>
              <a:spcBef>
                <a:spcPts val="1000"/>
              </a:spcBef>
              <a:defRPr sz="1200" b="0">
                <a:solidFill>
                  <a:srgbClr val="64748B"/>
                </a:solidFill>
                <a:latin typeface="Calibri"/>
              </a:defRPr>
            </a:pPr>
            <a:r>
              <a:t>• Pills de sélection : Carrousel horizontal fluide (Tous, Appartement, Studio, Maison, Villa, Chambre) avec retour visuel actif bleu vif.</a:t>
            </a:r>
          </a:p>
          <a:p>
            <a:pPr>
              <a:spcBef>
                <a:spcPts val="1000"/>
              </a:spcBef>
              <a:defRPr sz="1200" b="0">
                <a:solidFill>
                  <a:srgbClr val="64748B"/>
                </a:solidFill>
                <a:latin typeface="Calibri"/>
              </a:defRPr>
            </a:pPr>
            <a:r>
              <a:t>• Géolocalisation dynamique inversée : Localisation temps réel de l'utilisateur affichée dynamiquement (GPS vers Ville/Quartier).</a:t>
            </a:r>
          </a:p>
        </p:txBody>
      </p:sp>
      <p:sp>
        <p:nvSpPr>
          <p:cNvPr id="8" name="Rounded Rectangle 7"/>
          <p:cNvSpPr/>
          <p:nvPr/>
        </p:nvSpPr>
        <p:spPr>
          <a:xfrm>
            <a:off x="62179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92240" y="1737360"/>
            <a:ext cx="4572000" cy="2011680"/>
          </a:xfrm>
          <a:prstGeom prst="roundRect">
            <a:avLst/>
          </a:prstGeom>
          <a:solidFill>
            <a:srgbClr val="E0F2FE"/>
          </a:solidFill>
          <a:ln w="12700">
            <a:solidFill>
              <a:srgbClr val="E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0" y="1920240"/>
            <a:ext cx="1645920" cy="32004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938528"/>
            <a:ext cx="1645920" cy="320040"/>
          </a:xfrm>
          <a:prstGeom prst="rect">
            <a:avLst/>
          </a:prstGeom>
          <a:noFill/>
        </p:spPr>
        <p:txBody>
          <a:bodyPr wrap="square">
            <a:spAutoFit/>
          </a:bodyPr>
          <a:lstStyle/>
          <a:p>
            <a:pPr algn="ctr">
              <a:defRPr sz="900" b="1">
                <a:solidFill>
                  <a:srgbClr val="FFFFFF"/>
                </a:solidFill>
                <a:latin typeface="Calibri"/>
              </a:defRPr>
            </a:pPr>
            <a:r>
              <a:t>✦ Coup de cœur</a:t>
            </a:r>
          </a:p>
        </p:txBody>
      </p:sp>
      <p:sp>
        <p:nvSpPr>
          <p:cNvPr id="12" name="Rounded Rectangle 11"/>
          <p:cNvSpPr/>
          <p:nvPr/>
        </p:nvSpPr>
        <p:spPr>
          <a:xfrm>
            <a:off x="10332720" y="1920240"/>
            <a:ext cx="457200"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0" y="1965960"/>
            <a:ext cx="457200" cy="457200"/>
          </a:xfrm>
          <a:prstGeom prst="rect">
            <a:avLst/>
          </a:prstGeom>
          <a:noFill/>
        </p:spPr>
        <p:txBody>
          <a:bodyPr wrap="square">
            <a:spAutoFit/>
          </a:bodyPr>
          <a:lstStyle/>
          <a:p>
            <a:pPr algn="ctr">
              <a:defRPr sz="1100" b="0">
                <a:solidFill>
                  <a:srgbClr val="0F172A"/>
                </a:solidFill>
                <a:latin typeface="Calibri"/>
              </a:defRPr>
            </a:pPr>
            <a:r>
              <a:t>❤️</a:t>
            </a:r>
          </a:p>
        </p:txBody>
      </p:sp>
      <p:sp>
        <p:nvSpPr>
          <p:cNvPr id="14" name="Rounded Rectangle 13"/>
          <p:cNvSpPr/>
          <p:nvPr/>
        </p:nvSpPr>
        <p:spPr>
          <a:xfrm>
            <a:off x="10149840" y="3291840"/>
            <a:ext cx="731520" cy="27432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0" y="3291840"/>
            <a:ext cx="731520" cy="274320"/>
          </a:xfrm>
          <a:prstGeom prst="rect">
            <a:avLst/>
          </a:prstGeom>
          <a:noFill/>
        </p:spPr>
        <p:txBody>
          <a:bodyPr wrap="square">
            <a:spAutoFit/>
          </a:bodyPr>
          <a:lstStyle/>
          <a:p>
            <a:pPr algn="ctr">
              <a:defRPr sz="800" b="1">
                <a:solidFill>
                  <a:srgbClr val="FFFFFF"/>
                </a:solidFill>
                <a:latin typeface="Calibri"/>
              </a:defRPr>
            </a:pPr>
            <a:r>
              <a:t>📷 3</a:t>
            </a:r>
          </a:p>
        </p:txBody>
      </p:sp>
      <p:sp>
        <p:nvSpPr>
          <p:cNvPr id="16" name="TextBox 15"/>
          <p:cNvSpPr txBox="1"/>
          <p:nvPr/>
        </p:nvSpPr>
        <p:spPr>
          <a:xfrm>
            <a:off x="6492240" y="3931920"/>
            <a:ext cx="3291840" cy="274320"/>
          </a:xfrm>
          <a:prstGeom prst="rect">
            <a:avLst/>
          </a:prstGeom>
          <a:noFill/>
        </p:spPr>
        <p:txBody>
          <a:bodyPr wrap="square">
            <a:spAutoFit/>
          </a:bodyPr>
          <a:lstStyle/>
          <a:p>
            <a:pPr algn="l">
              <a:defRPr sz="1300" b="1">
                <a:solidFill>
                  <a:srgbClr val="0F172A"/>
                </a:solidFill>
                <a:latin typeface="Calibri"/>
              </a:defRPr>
            </a:pPr>
            <a:r>
              <a:t>Appartement lumineux avec terrasse</a:t>
            </a:r>
          </a:p>
        </p:txBody>
      </p:sp>
      <p:sp>
        <p:nvSpPr>
          <p:cNvPr id="17" name="TextBox 16"/>
          <p:cNvSpPr txBox="1"/>
          <p:nvPr/>
        </p:nvSpPr>
        <p:spPr>
          <a:xfrm>
            <a:off x="10058400" y="3931920"/>
            <a:ext cx="1005840" cy="274320"/>
          </a:xfrm>
          <a:prstGeom prst="rect">
            <a:avLst/>
          </a:prstGeom>
          <a:noFill/>
        </p:spPr>
        <p:txBody>
          <a:bodyPr wrap="square">
            <a:spAutoFit/>
          </a:bodyPr>
          <a:lstStyle/>
          <a:p>
            <a:pPr algn="r">
              <a:defRPr sz="1200" b="1">
                <a:solidFill>
                  <a:srgbClr val="F97316"/>
                </a:solidFill>
                <a:latin typeface="Calibri"/>
              </a:defRPr>
            </a:pPr>
            <a:r>
              <a:t>⭐ 4.8</a:t>
            </a:r>
          </a:p>
        </p:txBody>
      </p:sp>
      <p:sp>
        <p:nvSpPr>
          <p:cNvPr id="18" name="TextBox 17"/>
          <p:cNvSpPr txBox="1"/>
          <p:nvPr/>
        </p:nvSpPr>
        <p:spPr>
          <a:xfrm>
            <a:off x="6492240" y="4206240"/>
            <a:ext cx="4572000" cy="274320"/>
          </a:xfrm>
          <a:prstGeom prst="rect">
            <a:avLst/>
          </a:prstGeom>
          <a:noFill/>
        </p:spPr>
        <p:txBody>
          <a:bodyPr wrap="square">
            <a:spAutoFit/>
          </a:bodyPr>
          <a:lstStyle/>
          <a:p>
            <a:pPr algn="l">
              <a:defRPr sz="1000" b="0">
                <a:solidFill>
                  <a:srgbClr val="64748B"/>
                </a:solidFill>
                <a:latin typeface="Calibri"/>
              </a:defRPr>
            </a:pPr>
            <a:r>
              <a:t>📍 Cocody · Abidjan</a:t>
            </a:r>
          </a:p>
        </p:txBody>
      </p:sp>
      <p:sp>
        <p:nvSpPr>
          <p:cNvPr id="19" name="Rounded Rectangle 18"/>
          <p:cNvSpPr/>
          <p:nvPr/>
        </p:nvSpPr>
        <p:spPr>
          <a:xfrm>
            <a:off x="6492240" y="4572000"/>
            <a:ext cx="4572000" cy="1828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663440"/>
            <a:ext cx="2286000" cy="274320"/>
          </a:xfrm>
          <a:prstGeom prst="rect">
            <a:avLst/>
          </a:prstGeom>
          <a:noFill/>
        </p:spPr>
        <p:txBody>
          <a:bodyPr wrap="square">
            <a:spAutoFit/>
          </a:bodyPr>
          <a:lstStyle/>
          <a:p>
            <a:pPr algn="l">
              <a:defRPr sz="1100" b="1">
                <a:solidFill>
                  <a:srgbClr val="64748B"/>
                </a:solidFill>
                <a:latin typeface="Calibri"/>
              </a:defRPr>
            </a:pPr>
            <a:r>
              <a:t>🛌 2 ch.   📐 65 m²</a:t>
            </a:r>
          </a:p>
        </p:txBody>
      </p:sp>
      <p:sp>
        <p:nvSpPr>
          <p:cNvPr id="21" name="TextBox 20"/>
          <p:cNvSpPr txBox="1"/>
          <p:nvPr/>
        </p:nvSpPr>
        <p:spPr>
          <a:xfrm>
            <a:off x="8595360" y="4663440"/>
            <a:ext cx="2468880" cy="274320"/>
          </a:xfrm>
          <a:prstGeom prst="rect">
            <a:avLst/>
          </a:prstGeom>
          <a:noFill/>
        </p:spPr>
        <p:txBody>
          <a:bodyPr wrap="square">
            <a:spAutoFit/>
          </a:bodyPr>
          <a:lstStyle/>
          <a:p>
            <a:pPr algn="r">
              <a:defRPr sz="1200" b="1">
                <a:solidFill>
                  <a:srgbClr val="0284C7"/>
                </a:solidFill>
                <a:latin typeface="Calibri"/>
              </a:defRPr>
            </a:pPr>
            <a:r>
              <a:t>1 850 000 FCFA/mois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lgn="l">
              <a:defRPr sz="1000" b="1">
                <a:solidFill>
                  <a:srgbClr val="0284C7"/>
                </a:solidFill>
                <a:latin typeface="Calibri"/>
              </a:defRPr>
            </a:pPr>
            <a:r>
              <a:t>ATTOUHOME - RAPPORT DE DÉVELOPPEMENT</a:t>
            </a:r>
          </a:p>
        </p:txBody>
      </p:sp>
      <p:sp>
        <p:nvSpPr>
          <p:cNvPr id="3" name="TextBox 2"/>
          <p:cNvSpPr txBox="1"/>
          <p:nvPr/>
        </p:nvSpPr>
        <p:spPr>
          <a:xfrm>
            <a:off x="731520" y="640080"/>
            <a:ext cx="10698480" cy="548640"/>
          </a:xfrm>
          <a:prstGeom prst="rect">
            <a:avLst/>
          </a:prstGeom>
          <a:noFill/>
        </p:spPr>
        <p:txBody>
          <a:bodyPr wrap="square">
            <a:spAutoFit/>
          </a:bodyPr>
          <a:lstStyle/>
          <a:p>
            <a:pPr algn="l">
              <a:defRPr sz="2400" b="1">
                <a:solidFill>
                  <a:srgbClr val="0F172A"/>
                </a:solidFill>
                <a:latin typeface="Calibri"/>
              </a:defRPr>
            </a:pPr>
            <a:r>
              <a:t>Technique : Système Anti-Débordement de l'Interface</a:t>
            </a:r>
          </a:p>
        </p:txBody>
      </p:sp>
      <p:sp>
        <p:nvSpPr>
          <p:cNvPr id="4" name="Rounded Rectangle 3"/>
          <p:cNvSpPr/>
          <p:nvPr/>
        </p:nvSpPr>
        <p:spPr>
          <a:xfrm>
            <a:off x="7315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2743200" cy="365760"/>
          </a:xfrm>
          <a:prstGeom prst="rect">
            <a:avLst/>
          </a:prstGeom>
          <a:noFill/>
        </p:spPr>
        <p:txBody>
          <a:bodyPr wrap="square">
            <a:spAutoFit/>
          </a:bodyPr>
          <a:lstStyle/>
          <a:p>
            <a:pPr algn="l">
              <a:defRPr sz="1200" b="1">
                <a:solidFill>
                  <a:srgbClr val="0284C7"/>
                </a:solidFill>
                <a:latin typeface="Calibri"/>
              </a:defRPr>
            </a:pPr>
            <a:r>
              <a:t>1. FLEXWRAP DYNAMIQUE</a:t>
            </a:r>
          </a:p>
        </p:txBody>
      </p:sp>
      <p:sp>
        <p:nvSpPr>
          <p:cNvPr id="6" name="TextBox 5"/>
          <p:cNvSpPr txBox="1"/>
          <p:nvPr/>
        </p:nvSpPr>
        <p:spPr>
          <a:xfrm>
            <a:off x="1005840" y="2103120"/>
            <a:ext cx="2743200" cy="457200"/>
          </a:xfrm>
          <a:prstGeom prst="rect">
            <a:avLst/>
          </a:prstGeom>
          <a:noFill/>
        </p:spPr>
        <p:txBody>
          <a:bodyPr wrap="square">
            <a:spAutoFit/>
          </a:bodyPr>
          <a:lstStyle/>
          <a:p>
            <a:pPr algn="l">
              <a:defRPr sz="1700" b="1">
                <a:solidFill>
                  <a:srgbClr val="0F172A"/>
                </a:solidFill>
                <a:latin typeface="Calibri"/>
              </a:defRPr>
            </a:pPr>
            <a:r>
              <a:t>Adaptabilité aux Prix</a:t>
            </a:r>
          </a:p>
        </p:txBody>
      </p:sp>
      <p:sp>
        <p:nvSpPr>
          <p:cNvPr id="7" name="TextBox 6"/>
          <p:cNvSpPr txBox="1"/>
          <p:nvPr/>
        </p:nvSpPr>
        <p:spPr>
          <a:xfrm>
            <a:off x="1005840" y="2651760"/>
            <a:ext cx="2743200" cy="2743200"/>
          </a:xfrm>
          <a:prstGeom prst="rect">
            <a:avLst/>
          </a:prstGeom>
          <a:noFill/>
        </p:spPr>
        <p:txBody>
          <a:bodyPr wrap="square">
            <a:spAutoFit/>
          </a:bodyPr>
          <a:lstStyle/>
          <a:p>
            <a:pPr>
              <a:defRPr sz="1200">
                <a:solidFill>
                  <a:srgbClr val="64748B"/>
                </a:solidFill>
              </a:defRPr>
            </a:pPr>
            <a:r>
              <a:t>Les montants en FCFA atteignent régulièrement des millions, exigeant un espace horizontal important :</a:t>
            </a:r>
          </a:p>
          <a:p>
            <a:pPr>
              <a:spcBef>
                <a:spcPts val="1000"/>
              </a:spcBef>
              <a:defRPr sz="1200" b="0">
                <a:solidFill>
                  <a:srgbClr val="64748B"/>
                </a:solidFill>
                <a:latin typeface="Calibri"/>
              </a:defRPr>
            </a:pPr>
            <a:r>
              <a:t>✔ Le pied de page de la carte autorise dorénavant un enveloppement automatique ('flexWrap: wrap').</a:t>
            </a:r>
          </a:p>
          <a:p>
            <a:pPr>
              <a:spcBef>
                <a:spcPts val="1000"/>
              </a:spcBef>
              <a:defRPr sz="1200" b="0">
                <a:solidFill>
                  <a:srgbClr val="64748B"/>
                </a:solidFill>
                <a:latin typeface="Calibri"/>
              </a:defRPr>
            </a:pPr>
            <a:r>
              <a:t>✔ Si le prix et les caractéristiques entrent en collision, le prix descend sur une seconde ligne en toute sécurité.</a:t>
            </a:r>
          </a:p>
        </p:txBody>
      </p:sp>
      <p:sp>
        <p:nvSpPr>
          <p:cNvPr id="8" name="Rounded Rectangle 7"/>
          <p:cNvSpPr/>
          <p:nvPr/>
        </p:nvSpPr>
        <p:spPr>
          <a:xfrm>
            <a:off x="43891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737360"/>
            <a:ext cx="2743200" cy="365760"/>
          </a:xfrm>
          <a:prstGeom prst="rect">
            <a:avLst/>
          </a:prstGeom>
          <a:noFill/>
        </p:spPr>
        <p:txBody>
          <a:bodyPr wrap="square">
            <a:spAutoFit/>
          </a:bodyPr>
          <a:lstStyle/>
          <a:p>
            <a:pPr algn="l">
              <a:defRPr sz="1200" b="1">
                <a:solidFill>
                  <a:srgbClr val="F97316"/>
                </a:solidFill>
                <a:latin typeface="Calibri"/>
              </a:defRPr>
            </a:pPr>
            <a:r>
              <a:t>2. ALIGNEMENT AUTOMATIQUE</a:t>
            </a:r>
          </a:p>
        </p:txBody>
      </p:sp>
      <p:sp>
        <p:nvSpPr>
          <p:cNvPr id="10" name="TextBox 9"/>
          <p:cNvSpPr txBox="1"/>
          <p:nvPr/>
        </p:nvSpPr>
        <p:spPr>
          <a:xfrm>
            <a:off x="4663440" y="2103120"/>
            <a:ext cx="2743200" cy="457200"/>
          </a:xfrm>
          <a:prstGeom prst="rect">
            <a:avLst/>
          </a:prstGeom>
          <a:noFill/>
        </p:spPr>
        <p:txBody>
          <a:bodyPr wrap="square">
            <a:spAutoFit/>
          </a:bodyPr>
          <a:lstStyle/>
          <a:p>
            <a:pPr algn="l">
              <a:defRPr sz="1700" b="1">
                <a:solidFill>
                  <a:srgbClr val="0F172A"/>
                </a:solidFill>
                <a:latin typeface="Calibri"/>
              </a:defRPr>
            </a:pPr>
            <a:r>
              <a:t>Astuces Flexbox Modernes</a:t>
            </a:r>
          </a:p>
        </p:txBody>
      </p:sp>
      <p:sp>
        <p:nvSpPr>
          <p:cNvPr id="11" name="TextBox 10"/>
          <p:cNvSpPr txBox="1"/>
          <p:nvPr/>
        </p:nvSpPr>
        <p:spPr>
          <a:xfrm>
            <a:off x="4663440" y="2651760"/>
            <a:ext cx="2743200" cy="2743200"/>
          </a:xfrm>
          <a:prstGeom prst="rect">
            <a:avLst/>
          </a:prstGeom>
          <a:noFill/>
        </p:spPr>
        <p:txBody>
          <a:bodyPr wrap="square">
            <a:spAutoFit/>
          </a:bodyPr>
          <a:lstStyle/>
          <a:p>
            <a:pPr>
              <a:defRPr sz="1200">
                <a:solidFill>
                  <a:srgbClr val="64748B"/>
                </a:solidFill>
              </a:defRPr>
            </a:pPr>
            <a:r>
              <a:t>Garantir un alignement visuel parfait sur les grilles, même en cas de retour à la ligne :</a:t>
            </a:r>
          </a:p>
          <a:p>
            <a:pPr>
              <a:spcBef>
                <a:spcPts val="1000"/>
              </a:spcBef>
              <a:defRPr sz="1200" b="0">
                <a:solidFill>
                  <a:srgbClr val="64748B"/>
                </a:solidFill>
                <a:latin typeface="Calibri"/>
              </a:defRPr>
            </a:pPr>
            <a:r>
              <a:t>✔ Utilisation de 'marginLeft: auto' sur le conteneur de prix.</a:t>
            </a:r>
          </a:p>
          <a:p>
            <a:pPr>
              <a:spcBef>
                <a:spcPts val="1000"/>
              </a:spcBef>
              <a:defRPr sz="1200" b="0">
                <a:solidFill>
                  <a:srgbClr val="64748B"/>
                </a:solidFill>
                <a:latin typeface="Calibri"/>
              </a:defRPr>
            </a:pPr>
            <a:r>
              <a:t>✔ Si le prix reste sur la même ligne, il s'aligne à droite. S'il descend à la ligne, il se pousse automatiquement vers la droite, conservant un aspect de tableau extrêmement chic.</a:t>
            </a:r>
          </a:p>
        </p:txBody>
      </p:sp>
      <p:sp>
        <p:nvSpPr>
          <p:cNvPr id="12" name="Rounded Rectangle 11"/>
          <p:cNvSpPr/>
          <p:nvPr/>
        </p:nvSpPr>
        <p:spPr>
          <a:xfrm>
            <a:off x="8046720" y="1463040"/>
            <a:ext cx="32918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737360"/>
            <a:ext cx="2743200" cy="365760"/>
          </a:xfrm>
          <a:prstGeom prst="rect">
            <a:avLst/>
          </a:prstGeom>
          <a:noFill/>
        </p:spPr>
        <p:txBody>
          <a:bodyPr wrap="square">
            <a:spAutoFit/>
          </a:bodyPr>
          <a:lstStyle/>
          <a:p>
            <a:pPr algn="l">
              <a:defRPr sz="1200" b="1">
                <a:solidFill>
                  <a:srgbClr val="0284C7"/>
                </a:solidFill>
                <a:latin typeface="Calibri"/>
              </a:defRPr>
            </a:pPr>
            <a:r>
              <a:t>3. LIMITATIONS PHYSIQUES</a:t>
            </a:r>
          </a:p>
        </p:txBody>
      </p:sp>
      <p:sp>
        <p:nvSpPr>
          <p:cNvPr id="14" name="TextBox 13"/>
          <p:cNvSpPr txBox="1"/>
          <p:nvPr/>
        </p:nvSpPr>
        <p:spPr>
          <a:xfrm>
            <a:off x="8321040" y="2103120"/>
            <a:ext cx="2743200" cy="457200"/>
          </a:xfrm>
          <a:prstGeom prst="rect">
            <a:avLst/>
          </a:prstGeom>
          <a:noFill/>
        </p:spPr>
        <p:txBody>
          <a:bodyPr wrap="square">
            <a:spAutoFit/>
          </a:bodyPr>
          <a:lstStyle/>
          <a:p>
            <a:pPr algn="l">
              <a:defRPr sz="1700" b="1">
                <a:solidFill>
                  <a:srgbClr val="0F172A"/>
                </a:solidFill>
                <a:latin typeface="Calibri"/>
              </a:defRPr>
            </a:pPr>
            <a:r>
              <a:t>Ellipses &amp; Réduction</a:t>
            </a:r>
          </a:p>
        </p:txBody>
      </p:sp>
      <p:sp>
        <p:nvSpPr>
          <p:cNvPr id="15" name="TextBox 14"/>
          <p:cNvSpPr txBox="1"/>
          <p:nvPr/>
        </p:nvSpPr>
        <p:spPr>
          <a:xfrm>
            <a:off x="8321040" y="2651760"/>
            <a:ext cx="2743200" cy="2743200"/>
          </a:xfrm>
          <a:prstGeom prst="rect">
            <a:avLst/>
          </a:prstGeom>
          <a:noFill/>
        </p:spPr>
        <p:txBody>
          <a:bodyPr wrap="square">
            <a:spAutoFit/>
          </a:bodyPr>
          <a:lstStyle/>
          <a:p>
            <a:pPr>
              <a:defRPr sz="1200">
                <a:solidFill>
                  <a:srgbClr val="64748B"/>
                </a:solidFill>
              </a:defRPr>
            </a:pPr>
            <a:r>
              <a:t>Gestion rigoureuse des longueurs de textes imprévues saisies par les propriétaires :</a:t>
            </a:r>
          </a:p>
          <a:p>
            <a:pPr>
              <a:spcBef>
                <a:spcPts val="1000"/>
              </a:spcBef>
              <a:defRPr sz="1200" b="0">
                <a:solidFill>
                  <a:srgbClr val="64748B"/>
                </a:solidFill>
                <a:latin typeface="Calibri"/>
              </a:defRPr>
            </a:pPr>
            <a:r>
              <a:t>✔ Blocage du titre et de la localisation à 1 seule ligne maximum avec troncation ('numberOfLines={1}').</a:t>
            </a:r>
          </a:p>
          <a:p>
            <a:pPr>
              <a:spcBef>
                <a:spcPts val="1000"/>
              </a:spcBef>
              <a:defRPr sz="1200" b="0">
                <a:solidFill>
                  <a:srgbClr val="64748B"/>
                </a:solidFill>
                <a:latin typeface="Calibri"/>
              </a:defRPr>
            </a:pPr>
            <a:r>
              <a:t>✔ Saisie modifiée pour forcer la séparation des blocs textuels au lieu des composants textes imbriqués bogués sous Android.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lgn="l">
              <a:defRPr sz="1000" b="1">
                <a:solidFill>
                  <a:srgbClr val="0284C7"/>
                </a:solidFill>
                <a:latin typeface="Calibri"/>
              </a:defRPr>
            </a:pPr>
            <a:r>
              <a:t>ATTOUHOME - RAPPORT DE DÉVELOPPEMENT</a:t>
            </a:r>
          </a:p>
        </p:txBody>
      </p:sp>
      <p:sp>
        <p:nvSpPr>
          <p:cNvPr id="3" name="TextBox 2"/>
          <p:cNvSpPr txBox="1"/>
          <p:nvPr/>
        </p:nvSpPr>
        <p:spPr>
          <a:xfrm>
            <a:off x="731520" y="640080"/>
            <a:ext cx="10698480" cy="548640"/>
          </a:xfrm>
          <a:prstGeom prst="rect">
            <a:avLst/>
          </a:prstGeom>
          <a:noFill/>
        </p:spPr>
        <p:txBody>
          <a:bodyPr wrap="square">
            <a:spAutoFit/>
          </a:bodyPr>
          <a:lstStyle/>
          <a:p>
            <a:pPr algn="l">
              <a:defRPr sz="2400" b="1">
                <a:solidFill>
                  <a:srgbClr val="0F172A"/>
                </a:solidFill>
                <a:latin typeface="Calibri"/>
              </a:defRPr>
            </a:pPr>
            <a:r>
              <a:t>Sécurité, Prises de Rendez-vous &amp; Modération des Biens</a:t>
            </a:r>
          </a:p>
        </p:txBody>
      </p:sp>
      <p:sp>
        <p:nvSpPr>
          <p:cNvPr id="4" name="Rounded Rectangle 3"/>
          <p:cNvSpPr/>
          <p:nvPr/>
        </p:nvSpPr>
        <p:spPr>
          <a:xfrm>
            <a:off x="7315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572000" cy="365760"/>
          </a:xfrm>
          <a:prstGeom prst="rect">
            <a:avLst/>
          </a:prstGeom>
          <a:noFill/>
        </p:spPr>
        <p:txBody>
          <a:bodyPr wrap="square">
            <a:spAutoFit/>
          </a:bodyPr>
          <a:lstStyle/>
          <a:p>
            <a:pPr algn="l">
              <a:defRPr sz="1200" b="1">
                <a:solidFill>
                  <a:srgbClr val="0284C7"/>
                </a:solidFill>
                <a:latin typeface="Calibri"/>
              </a:defRPr>
            </a:pPr>
            <a:r>
              <a:t>🔒 PROTECTION DES DONNÉES</a:t>
            </a:r>
          </a:p>
        </p:txBody>
      </p:sp>
      <p:sp>
        <p:nvSpPr>
          <p:cNvPr id="6" name="TextBox 5"/>
          <p:cNvSpPr txBox="1"/>
          <p:nvPr/>
        </p:nvSpPr>
        <p:spPr>
          <a:xfrm>
            <a:off x="1005840" y="2103120"/>
            <a:ext cx="4572000" cy="457200"/>
          </a:xfrm>
          <a:prstGeom prst="rect">
            <a:avLst/>
          </a:prstGeom>
          <a:noFill/>
        </p:spPr>
        <p:txBody>
          <a:bodyPr wrap="square">
            <a:spAutoFit/>
          </a:bodyPr>
          <a:lstStyle/>
          <a:p>
            <a:pPr algn="l">
              <a:defRPr sz="1800" b="1">
                <a:solidFill>
                  <a:srgbClr val="0F172A"/>
                </a:solidFill>
                <a:latin typeface="Calibri"/>
              </a:defRPr>
            </a:pPr>
            <a:r>
              <a:t>Accès Limité &amp; Comptes Suspendus</a:t>
            </a:r>
          </a:p>
        </p:txBody>
      </p:sp>
      <p:sp>
        <p:nvSpPr>
          <p:cNvPr id="7" name="TextBox 6"/>
          <p:cNvSpPr txBox="1"/>
          <p:nvPr/>
        </p:nvSpPr>
        <p:spPr>
          <a:xfrm>
            <a:off x="1005840" y="2651760"/>
            <a:ext cx="4572000" cy="2926080"/>
          </a:xfrm>
          <a:prstGeom prst="rect">
            <a:avLst/>
          </a:prstGeom>
          <a:noFill/>
        </p:spPr>
        <p:txBody>
          <a:bodyPr wrap="square">
            <a:spAutoFit/>
          </a:bodyPr>
          <a:lstStyle/>
          <a:p>
            <a:pPr>
              <a:defRPr sz="1200">
                <a:solidFill>
                  <a:srgbClr val="64748B"/>
                </a:solidFill>
              </a:defRPr>
            </a:pPr>
            <a:r>
              <a:t>• Parcours de Conversion : Les détails complets des biens, équipements et favoris sont ouverts sans connexion pour maximiser l'intérêt. L'authentification n'est exigée qu'à la demande de visite ou au contact.</a:t>
            </a:r>
          </a:p>
          <a:p>
            <a:pPr>
              <a:spcBef>
                <a:spcPts val="1000"/>
              </a:spcBef>
              <a:defRPr sz="1200" b="0">
                <a:solidFill>
                  <a:srgbClr val="64748B"/>
                </a:solidFill>
                <a:latin typeface="Calibri"/>
              </a:defRPr>
            </a:pPr>
            <a:r>
              <a:t>• Modération active : Les locataires peuvent signaler une annonce douteuse en saisissant un motif détaillé via un KeyboardAvoidingView protecteur.</a:t>
            </a:r>
          </a:p>
          <a:p>
            <a:pPr>
              <a:spcBef>
                <a:spcPts val="1000"/>
              </a:spcBef>
              <a:defRPr sz="1200" b="0">
                <a:solidFill>
                  <a:srgbClr val="64748B"/>
                </a:solidFill>
                <a:latin typeface="Calibri"/>
              </a:defRPr>
            </a:pPr>
            <a:r>
              <a:t>• Blocages instantanés : L'extension Prisma permet de marquer un compte comme SUSPENDED dans le panel d'administration. La connexion de ce dernier et ses requêtes sont immédiatement invalidées côté backend.</a:t>
            </a:r>
          </a:p>
        </p:txBody>
      </p:sp>
      <p:sp>
        <p:nvSpPr>
          <p:cNvPr id="8" name="Rounded Rectangle 7"/>
          <p:cNvSpPr/>
          <p:nvPr/>
        </p:nvSpPr>
        <p:spPr>
          <a:xfrm>
            <a:off x="6217920" y="1463040"/>
            <a:ext cx="51206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37360"/>
            <a:ext cx="4572000" cy="365760"/>
          </a:xfrm>
          <a:prstGeom prst="rect">
            <a:avLst/>
          </a:prstGeom>
          <a:noFill/>
        </p:spPr>
        <p:txBody>
          <a:bodyPr wrap="square">
            <a:spAutoFit/>
          </a:bodyPr>
          <a:lstStyle/>
          <a:p>
            <a:pPr algn="l">
              <a:defRPr sz="1200" b="1">
                <a:solidFill>
                  <a:srgbClr val="F97316"/>
                </a:solidFill>
                <a:latin typeface="Calibri"/>
              </a:defRPr>
            </a:pPr>
            <a:r>
              <a:t>📅 INTERACTION EN DIRECT</a:t>
            </a:r>
          </a:p>
        </p:txBody>
      </p:sp>
      <p:sp>
        <p:nvSpPr>
          <p:cNvPr id="10" name="TextBox 9"/>
          <p:cNvSpPr txBox="1"/>
          <p:nvPr/>
        </p:nvSpPr>
        <p:spPr>
          <a:xfrm>
            <a:off x="6492240" y="2103120"/>
            <a:ext cx="4572000" cy="457200"/>
          </a:xfrm>
          <a:prstGeom prst="rect">
            <a:avLst/>
          </a:prstGeom>
          <a:noFill/>
        </p:spPr>
        <p:txBody>
          <a:bodyPr wrap="square">
            <a:spAutoFit/>
          </a:bodyPr>
          <a:lstStyle/>
          <a:p>
            <a:pPr algn="l">
              <a:defRPr sz="1800" b="1">
                <a:solidFill>
                  <a:srgbClr val="0F172A"/>
                </a:solidFill>
                <a:latin typeface="Calibri"/>
              </a:defRPr>
            </a:pPr>
            <a:r>
              <a:t>Messagerie &amp; Calendrier de Visites</a:t>
            </a:r>
          </a:p>
        </p:txBody>
      </p:sp>
      <p:sp>
        <p:nvSpPr>
          <p:cNvPr id="11" name="TextBox 10"/>
          <p:cNvSpPr txBox="1"/>
          <p:nvPr/>
        </p:nvSpPr>
        <p:spPr>
          <a:xfrm>
            <a:off x="6492240" y="2651760"/>
            <a:ext cx="4572000" cy="2926080"/>
          </a:xfrm>
          <a:prstGeom prst="rect">
            <a:avLst/>
          </a:prstGeom>
          <a:noFill/>
        </p:spPr>
        <p:txBody>
          <a:bodyPr wrap="square">
            <a:spAutoFit/>
          </a:bodyPr>
          <a:lstStyle/>
          <a:p>
            <a:pPr>
              <a:defRPr sz="1200">
                <a:solidFill>
                  <a:srgbClr val="64748B"/>
                </a:solidFill>
              </a:defRPr>
            </a:pPr>
            <a:r>
              <a:t>• Planification interactive : Un calendrier intégré permet au locataire de sélectionner un jour libre pour visiter la propriété. La demande est immédiatement notifiée à l'application Owner.</a:t>
            </a:r>
          </a:p>
          <a:p>
            <a:pPr>
              <a:spcBef>
                <a:spcPts val="1000"/>
              </a:spcBef>
              <a:defRPr sz="1200" b="0">
                <a:solidFill>
                  <a:srgbClr val="64748B"/>
                </a:solidFill>
                <a:latin typeface="Calibri"/>
              </a:defRPr>
            </a:pPr>
            <a:r>
              <a:t>• Système anti-doublon : Les demandes de visites redondantes ou multiples sur la même annonce par le même compte sont bloquées en amont.</a:t>
            </a:r>
          </a:p>
          <a:p>
            <a:pPr>
              <a:spcBef>
                <a:spcPts val="1000"/>
              </a:spcBef>
              <a:defRPr sz="1200" b="0">
                <a:solidFill>
                  <a:srgbClr val="64748B"/>
                </a:solidFill>
                <a:latin typeface="Calibri"/>
              </a:defRPr>
            </a:pPr>
            <a:r>
              <a:t>• Messagerie Socket : Échange de messages cryptés et fluides entre le propriétaire et le locataire avec affichage des horaires et badges de notification non-lus sur l'onglet.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645920"/>
            <a:ext cx="137160" cy="3657600"/>
          </a:xfrm>
          <a:prstGeom prst="roundRect">
            <a:avLst/>
          </a:prstGeom>
          <a:solidFill>
            <a:srgbClr val="F97316"/>
          </a:solidFill>
          <a:ln w="127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4572000" cy="365760"/>
          </a:xfrm>
          <a:prstGeom prst="rect">
            <a:avLst/>
          </a:prstGeom>
          <a:noFill/>
        </p:spPr>
        <p:txBody>
          <a:bodyPr wrap="square">
            <a:spAutoFit/>
          </a:bodyPr>
          <a:lstStyle/>
          <a:p>
            <a:pPr algn="l">
              <a:defRPr sz="1200" b="1">
                <a:solidFill>
                  <a:srgbClr val="0284C7"/>
                </a:solidFill>
                <a:latin typeface="Calibri"/>
              </a:defRPr>
            </a:pPr>
            <a:r>
              <a:t>CONCLUSION &amp; FUTURS HORIZONS</a:t>
            </a:r>
          </a:p>
        </p:txBody>
      </p:sp>
      <p:sp>
        <p:nvSpPr>
          <p:cNvPr id="4" name="TextBox 3"/>
          <p:cNvSpPr txBox="1"/>
          <p:nvPr/>
        </p:nvSpPr>
        <p:spPr>
          <a:xfrm>
            <a:off x="1097280" y="1920240"/>
            <a:ext cx="4572000" cy="548640"/>
          </a:xfrm>
          <a:prstGeom prst="rect">
            <a:avLst/>
          </a:prstGeom>
          <a:noFill/>
        </p:spPr>
        <p:txBody>
          <a:bodyPr wrap="square">
            <a:spAutoFit/>
          </a:bodyPr>
          <a:lstStyle/>
          <a:p>
            <a:pPr algn="l">
              <a:defRPr sz="2800" b="1">
                <a:solidFill>
                  <a:srgbClr val="FFFFFF"/>
                </a:solidFill>
                <a:latin typeface="Calibri"/>
              </a:defRPr>
            </a:pPr>
            <a:r>
              <a:t>Bilan des Avancées</a:t>
            </a:r>
          </a:p>
        </p:txBody>
      </p:sp>
      <p:sp>
        <p:nvSpPr>
          <p:cNvPr id="5" name="TextBox 4"/>
          <p:cNvSpPr txBox="1"/>
          <p:nvPr/>
        </p:nvSpPr>
        <p:spPr>
          <a:xfrm>
            <a:off x="1097280" y="2651760"/>
            <a:ext cx="4572000" cy="3200400"/>
          </a:xfrm>
          <a:prstGeom prst="rect">
            <a:avLst/>
          </a:prstGeom>
          <a:noFill/>
        </p:spPr>
        <p:txBody>
          <a:bodyPr wrap="square">
            <a:spAutoFit/>
          </a:bodyPr>
          <a:lstStyle/>
          <a:p>
            <a:pPr>
              <a:defRPr sz="1300">
                <a:solidFill>
                  <a:srgbClr val="64748B"/>
                </a:solidFill>
              </a:defRPr>
            </a:pPr>
            <a:r>
              <a:t>L'application AttouHome dispose d'une infrastructure technique solide, hautement résiliente aux contraintes du réseau de développement local. Les interfaces de l'application mobile et de la console d'administration sont unifiées, stables, dynamiques et conçues selon les meilleurs standards d'ergonomie (UI/UX).</a:t>
            </a:r>
          </a:p>
        </p:txBody>
      </p:sp>
      <p:sp>
        <p:nvSpPr>
          <p:cNvPr id="6" name="TextBox 5"/>
          <p:cNvSpPr txBox="1"/>
          <p:nvPr/>
        </p:nvSpPr>
        <p:spPr>
          <a:xfrm>
            <a:off x="6217920" y="1554480"/>
            <a:ext cx="5029200" cy="365760"/>
          </a:xfrm>
          <a:prstGeom prst="rect">
            <a:avLst/>
          </a:prstGeom>
          <a:noFill/>
        </p:spPr>
        <p:txBody>
          <a:bodyPr wrap="square">
            <a:spAutoFit/>
          </a:bodyPr>
          <a:lstStyle/>
          <a:p>
            <a:pPr algn="l">
              <a:defRPr sz="1200" b="1">
                <a:solidFill>
                  <a:srgbClr val="F97316"/>
                </a:solidFill>
                <a:latin typeface="Calibri"/>
              </a:defRPr>
            </a:pPr>
            <a:r>
              <a:t>PROCHAINES ÉTAPES DE PRODUCTION</a:t>
            </a:r>
          </a:p>
        </p:txBody>
      </p:sp>
      <p:sp>
        <p:nvSpPr>
          <p:cNvPr id="7" name="TextBox 6"/>
          <p:cNvSpPr txBox="1"/>
          <p:nvPr/>
        </p:nvSpPr>
        <p:spPr>
          <a:xfrm>
            <a:off x="6217920" y="1920240"/>
            <a:ext cx="5029200" cy="548640"/>
          </a:xfrm>
          <a:prstGeom prst="rect">
            <a:avLst/>
          </a:prstGeom>
          <a:noFill/>
        </p:spPr>
        <p:txBody>
          <a:bodyPr wrap="square">
            <a:spAutoFit/>
          </a:bodyPr>
          <a:lstStyle/>
          <a:p>
            <a:pPr algn="l">
              <a:defRPr sz="2800" b="1">
                <a:solidFill>
                  <a:srgbClr val="FFFFFF"/>
                </a:solidFill>
                <a:latin typeface="Calibri"/>
              </a:defRPr>
            </a:pPr>
            <a:r>
              <a:t>Chantiers Prioritaires</a:t>
            </a:r>
          </a:p>
        </p:txBody>
      </p:sp>
      <p:sp>
        <p:nvSpPr>
          <p:cNvPr id="8" name="TextBox 7"/>
          <p:cNvSpPr txBox="1"/>
          <p:nvPr/>
        </p:nvSpPr>
        <p:spPr>
          <a:xfrm>
            <a:off x="6217920" y="2651760"/>
            <a:ext cx="5029200" cy="3200400"/>
          </a:xfrm>
          <a:prstGeom prst="rect">
            <a:avLst/>
          </a:prstGeom>
          <a:noFill/>
        </p:spPr>
        <p:txBody>
          <a:bodyPr wrap="square">
            <a:spAutoFit/>
          </a:bodyPr>
          <a:lstStyle/>
          <a:p>
            <a:pPr>
              <a:defRPr sz="1300">
                <a:solidFill>
                  <a:srgbClr val="64748B"/>
                </a:solidFill>
              </a:defRPr>
            </a:pPr>
            <a:r>
              <a:t>1. Phase de Recette (UAT) : Simulation de visites à grande échelle avec des comptes fictifs.</a:t>
            </a:r>
          </a:p>
          <a:p>
            <a:pPr>
              <a:spcBef>
                <a:spcPts val="1000"/>
              </a:spcBef>
              <a:defRPr sz="1300" b="0">
                <a:solidFill>
                  <a:srgbClr val="64748B"/>
                </a:solidFill>
                <a:latin typeface="Calibri"/>
              </a:defRPr>
            </a:pPr>
            <a:r>
              <a:t>2. Déploiement Cloud Production : Migration de la base PostgreSQL locale et du backend vers AWS/Heroku pour s'affranchir définitivement des tunnels de dev.</a:t>
            </a:r>
          </a:p>
          <a:p>
            <a:pPr>
              <a:spcBef>
                <a:spcPts val="1000"/>
              </a:spcBef>
              <a:defRPr sz="1300" b="0">
                <a:solidFill>
                  <a:srgbClr val="64748B"/>
                </a:solidFill>
                <a:latin typeface="Calibri"/>
              </a:defRPr>
            </a:pPr>
            <a:r>
              <a:t>3. Build natif de test : Exportation des fichiers IPA (iOS) et APK (Android) via EAS Build d'Expo pour distribution aux bêta-testeurs.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